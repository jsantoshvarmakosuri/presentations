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38"/>
  </p:normalViewPr>
  <p:slideViewPr>
    <p:cSldViewPr snapToGrid="0" snapToObjects="1">
      <p:cViewPr varScale="1">
        <p:scale>
          <a:sx n="113" d="100"/>
          <a:sy n="113" d="100"/>
        </p:scale>
        <p:origin x="179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 sz="3400" b="1">
                <a:solidFill>
                  <a:srgbClr val="66FCF1"/>
                </a:solidFill>
              </a:defRPr>
            </a:pPr>
            <a:r>
              <a:rPr lang="en-IN" sz="2200">
                <a:solidFill>
                  <a:schemeClr val="bg1"/>
                </a:solidFill>
              </a:rPr>
              <a:t>Transforming KPI Intelligence with Autonomous Agents on AWS Bedrock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773346"/>
              </p:ext>
            </p:extLst>
          </p:nvPr>
        </p:nvGraphicFramePr>
        <p:xfrm>
          <a:off x="482600" y="1978925"/>
          <a:ext cx="8178799" cy="3786807"/>
        </p:xfrm>
        <a:graphic>
          <a:graphicData uri="http://schemas.openxmlformats.org/drawingml/2006/table">
            <a:tbl>
              <a:tblPr firstRow="1" bandRow="1">
                <a:solidFill>
                  <a:srgbClr val="404040"/>
                </a:solidFill>
                <a:tableStyleId>{5C22544A-7EE6-4342-B048-85BDC9FD1C3A}</a:tableStyleId>
              </a:tblPr>
              <a:tblGrid>
                <a:gridCol w="2150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8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1784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2300" b="0" cap="none" spc="0">
                          <a:solidFill>
                            <a:schemeClr val="bg1"/>
                          </a:solidFill>
                        </a:rPr>
                        <a:t>Section</a:t>
                      </a:r>
                    </a:p>
                  </a:txBody>
                  <a:tcPr marL="133967" marR="133967" marT="133967" marB="6698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2300" b="0" cap="none" spc="0">
                          <a:solidFill>
                            <a:schemeClr val="bg1"/>
                          </a:solidFill>
                        </a:rPr>
                        <a:t>Content</a:t>
                      </a:r>
                    </a:p>
                  </a:txBody>
                  <a:tcPr marL="133967" marR="133967" marT="133967" marB="6698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8341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800" cap="none" spc="0">
                          <a:solidFill>
                            <a:schemeClr val="bg1"/>
                          </a:solidFill>
                        </a:rPr>
                        <a:t>Problem</a:t>
                      </a:r>
                    </a:p>
                  </a:txBody>
                  <a:tcPr marL="133967" marR="133967" marT="133967" marB="669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800" cap="none" spc="0">
                          <a:solidFill>
                            <a:schemeClr val="bg1"/>
                          </a:solidFill>
                        </a:rPr>
                        <a:t>• Manual KPI analysis wastes time</a:t>
                      </a:r>
                    </a:p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800" cap="none" spc="0">
                          <a:solidFill>
                            <a:schemeClr val="bg1"/>
                          </a:solidFill>
                        </a:rPr>
                        <a:t>• Dashboards show 'what happened' not 'why'</a:t>
                      </a:r>
                    </a:p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800" cap="none" spc="0">
                          <a:solidFill>
                            <a:schemeClr val="bg1"/>
                          </a:solidFill>
                        </a:rPr>
                        <a:t>• Data analysts become bottlenecks</a:t>
                      </a:r>
                    </a:p>
                  </a:txBody>
                  <a:tcPr marL="133967" marR="133967" marT="133967" marB="669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8341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800" cap="none" spc="0">
                          <a:solidFill>
                            <a:schemeClr val="bg1"/>
                          </a:solidFill>
                        </a:rPr>
                        <a:t>Solution</a:t>
                      </a:r>
                    </a:p>
                  </a:txBody>
                  <a:tcPr marL="133967" marR="133967" marT="133967" marB="669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800" cap="none" spc="0">
                          <a:solidFill>
                            <a:schemeClr val="bg1"/>
                          </a:solidFill>
                        </a:rPr>
                        <a:t>• Conversational AI layer in Power BI</a:t>
                      </a:r>
                    </a:p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800" cap="none" spc="0">
                          <a:solidFill>
                            <a:schemeClr val="bg1"/>
                          </a:solidFill>
                        </a:rPr>
                        <a:t>• Users ask in natural language</a:t>
                      </a:r>
                    </a:p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800" cap="none" spc="0">
                          <a:solidFill>
                            <a:schemeClr val="bg1"/>
                          </a:solidFill>
                        </a:rPr>
                        <a:t>• Powered by Strands Swarm + AWS Bedrock AgentCore</a:t>
                      </a:r>
                    </a:p>
                  </a:txBody>
                  <a:tcPr marL="133967" marR="133967" marT="133967" marB="669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8341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800" cap="none" spc="0">
                          <a:solidFill>
                            <a:schemeClr val="bg1"/>
                          </a:solidFill>
                        </a:rPr>
                        <a:t>Impact</a:t>
                      </a:r>
                    </a:p>
                  </a:txBody>
                  <a:tcPr marL="133967" marR="133967" marT="133967" marB="669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800" cap="none" spc="0">
                          <a:solidFill>
                            <a:schemeClr val="bg1"/>
                          </a:solidFill>
                        </a:rPr>
                        <a:t>• 10× faster insights</a:t>
                      </a:r>
                    </a:p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800" cap="none" spc="0">
                          <a:solidFill>
                            <a:schemeClr val="bg1"/>
                          </a:solidFill>
                        </a:rPr>
                        <a:t>• 70% lower analytics cost</a:t>
                      </a:r>
                    </a:p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800" cap="none" spc="0">
                          <a:solidFill>
                            <a:schemeClr val="bg1"/>
                          </a:solidFill>
                        </a:rPr>
                        <a:t>• Seamless Power BI integration</a:t>
                      </a:r>
                    </a:p>
                  </a:txBody>
                  <a:tcPr marL="133967" marR="133967" marT="133967" marB="669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160" y="417576"/>
            <a:ext cx="818223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defRPr sz="3400" b="1">
                <a:solidFill>
                  <a:srgbClr val="66FCF1"/>
                </a:solidFill>
              </a:defRPr>
            </a:pP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Serverless AI Architecture on AWS Bedrock AgentCore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733454"/>
            <a:ext cx="3429000" cy="18288"/>
          </a:xfrm>
          <a:custGeom>
            <a:avLst/>
            <a:gdLst>
              <a:gd name="connsiteX0" fmla="*/ 0 w 3429000"/>
              <a:gd name="connsiteY0" fmla="*/ 0 h 18288"/>
              <a:gd name="connsiteX1" fmla="*/ 685800 w 3429000"/>
              <a:gd name="connsiteY1" fmla="*/ 0 h 18288"/>
              <a:gd name="connsiteX2" fmla="*/ 1371600 w 3429000"/>
              <a:gd name="connsiteY2" fmla="*/ 0 h 18288"/>
              <a:gd name="connsiteX3" fmla="*/ 2057400 w 3429000"/>
              <a:gd name="connsiteY3" fmla="*/ 0 h 18288"/>
              <a:gd name="connsiteX4" fmla="*/ 2674620 w 3429000"/>
              <a:gd name="connsiteY4" fmla="*/ 0 h 18288"/>
              <a:gd name="connsiteX5" fmla="*/ 3429000 w 3429000"/>
              <a:gd name="connsiteY5" fmla="*/ 0 h 18288"/>
              <a:gd name="connsiteX6" fmla="*/ 3429000 w 3429000"/>
              <a:gd name="connsiteY6" fmla="*/ 18288 h 18288"/>
              <a:gd name="connsiteX7" fmla="*/ 2811780 w 3429000"/>
              <a:gd name="connsiteY7" fmla="*/ 18288 h 18288"/>
              <a:gd name="connsiteX8" fmla="*/ 2228850 w 3429000"/>
              <a:gd name="connsiteY8" fmla="*/ 18288 h 18288"/>
              <a:gd name="connsiteX9" fmla="*/ 1543050 w 3429000"/>
              <a:gd name="connsiteY9" fmla="*/ 18288 h 18288"/>
              <a:gd name="connsiteX10" fmla="*/ 925830 w 3429000"/>
              <a:gd name="connsiteY10" fmla="*/ 18288 h 18288"/>
              <a:gd name="connsiteX11" fmla="*/ 0 w 3429000"/>
              <a:gd name="connsiteY11" fmla="*/ 18288 h 18288"/>
              <a:gd name="connsiteX12" fmla="*/ 0 w 342900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116681"/>
              </p:ext>
            </p:extLst>
          </p:nvPr>
        </p:nvGraphicFramePr>
        <p:xfrm>
          <a:off x="335261" y="2633472"/>
          <a:ext cx="8471193" cy="3586355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2404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3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3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2001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800" b="1" cap="none" spc="0">
                          <a:solidFill>
                            <a:schemeClr val="tx1"/>
                          </a:solidFill>
                        </a:rPr>
                        <a:t>Layer</a:t>
                      </a:r>
                    </a:p>
                  </a:txBody>
                  <a:tcPr marL="70783" marR="101119" marT="20224" marB="15167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800" b="1" cap="none" spc="0">
                          <a:solidFill>
                            <a:schemeClr val="tx1"/>
                          </a:solidFill>
                        </a:rPr>
                        <a:t>Components</a:t>
                      </a:r>
                    </a:p>
                  </a:txBody>
                  <a:tcPr marL="70783" marR="101119" marT="20224" marB="15167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800" b="1" cap="none" spc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L="70783" marR="101119" marT="20224" marB="15167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5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tx1"/>
                          </a:solidFill>
                        </a:rPr>
                        <a:t>Frontend</a:t>
                      </a:r>
                    </a:p>
                  </a:txBody>
                  <a:tcPr marL="70783" marR="101119" marT="20224" marB="151678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tx1"/>
                          </a:solidFill>
                        </a:rPr>
                        <a:t>Power BI iframe + React Chat UI</a:t>
                      </a:r>
                    </a:p>
                  </a:txBody>
                  <a:tcPr marL="70783" marR="101119" marT="20224" marB="15167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tx1"/>
                          </a:solidFill>
                        </a:rPr>
                        <a:t>Conversational UI for querying KPIs</a:t>
                      </a:r>
                    </a:p>
                  </a:txBody>
                  <a:tcPr marL="70783" marR="101119" marT="20224" marB="15167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5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tx1"/>
                          </a:solidFill>
                        </a:rPr>
                        <a:t>Gateway</a:t>
                      </a:r>
                    </a:p>
                  </a:txBody>
                  <a:tcPr marL="70783" marR="101119" marT="20224" marB="151678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tx1"/>
                          </a:solidFill>
                        </a:rPr>
                        <a:t>API Gateway + FastAPI Lambda</a:t>
                      </a:r>
                    </a:p>
                  </a:txBody>
                  <a:tcPr marL="70783" marR="101119" marT="20224" marB="15167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tx1"/>
                          </a:solidFill>
                        </a:rPr>
                        <a:t>Auth, sessions, and routing</a:t>
                      </a:r>
                    </a:p>
                  </a:txBody>
                  <a:tcPr marL="70783" marR="101119" marT="20224" marB="15167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826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tx1"/>
                          </a:solidFill>
                        </a:rPr>
                        <a:t>Orchestration</a:t>
                      </a:r>
                    </a:p>
                  </a:txBody>
                  <a:tcPr marL="70783" marR="101119" marT="20224" marB="151678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tx1"/>
                          </a:solidFill>
                        </a:rPr>
                        <a:t>Strands Swarm on Bedrock AgentCore</a:t>
                      </a:r>
                    </a:p>
                  </a:txBody>
                  <a:tcPr marL="70783" marR="101119" marT="20224" marB="15167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tx1"/>
                          </a:solidFill>
                        </a:rPr>
                        <a:t>1 Orchestrator + 7 Metric Agents</a:t>
                      </a:r>
                    </a:p>
                  </a:txBody>
                  <a:tcPr marL="70783" marR="101119" marT="20224" marB="15167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5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tx1"/>
                          </a:solidFill>
                        </a:rPr>
                        <a:t>Shared Tool Layer</a:t>
                      </a:r>
                    </a:p>
                  </a:txBody>
                  <a:tcPr marL="70783" marR="101119" marT="20224" marB="151678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tx1"/>
                          </a:solidFill>
                        </a:rPr>
                        <a:t>Snowflake MCP (AWS Lambda)</a:t>
                      </a:r>
                    </a:p>
                  </a:txBody>
                  <a:tcPr marL="70783" marR="101119" marT="20224" marB="15167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tx1"/>
                          </a:solidFill>
                        </a:rPr>
                        <a:t>Executes SQL via Snowflake</a:t>
                      </a:r>
                    </a:p>
                  </a:txBody>
                  <a:tcPr marL="70783" marR="101119" marT="20224" marB="15167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5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tx1"/>
                          </a:solidFill>
                        </a:rPr>
                        <a:t>LLM Inference</a:t>
                      </a:r>
                    </a:p>
                  </a:txBody>
                  <a:tcPr marL="70783" marR="101119" marT="20224" marB="151678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tx1"/>
                          </a:solidFill>
                        </a:rPr>
                        <a:t>Bedrock (Claude 3 Haiku / Nova Lite)</a:t>
                      </a:r>
                    </a:p>
                  </a:txBody>
                  <a:tcPr marL="70783" marR="101119" marT="20224" marB="15167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tx1"/>
                          </a:solidFill>
                        </a:rPr>
                        <a:t>Reasoning and summarization</a:t>
                      </a:r>
                    </a:p>
                  </a:txBody>
                  <a:tcPr marL="70783" marR="101119" marT="20224" marB="15167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45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tx1"/>
                          </a:solidFill>
                        </a:rPr>
                        <a:t>Data Layer</a:t>
                      </a:r>
                    </a:p>
                  </a:txBody>
                  <a:tcPr marL="70783" marR="101119" marT="20224" marB="151678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tx1"/>
                          </a:solidFill>
                        </a:rPr>
                        <a:t>Snowflake + RDS</a:t>
                      </a:r>
                    </a:p>
                  </a:txBody>
                  <a:tcPr marL="70783" marR="101119" marT="20224" marB="15167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tx1"/>
                          </a:solidFill>
                        </a:rPr>
                        <a:t>KPI data + user metadata</a:t>
                      </a:r>
                    </a:p>
                  </a:txBody>
                  <a:tcPr marL="70783" marR="101119" marT="20224" marB="15167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45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tx1"/>
                          </a:solidFill>
                        </a:rPr>
                        <a:t>Monitoring</a:t>
                      </a:r>
                    </a:p>
                  </a:txBody>
                  <a:tcPr marL="70783" marR="101119" marT="20224" marB="151678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tx1"/>
                          </a:solidFill>
                        </a:rPr>
                        <a:t>CloudWatch, X-Ray</a:t>
                      </a:r>
                    </a:p>
                  </a:txBody>
                  <a:tcPr marL="70783" marR="101119" marT="20224" marB="15167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tx1"/>
                          </a:solidFill>
                        </a:rPr>
                        <a:t>Logs, metrics, budget alerts</a:t>
                      </a:r>
                    </a:p>
                  </a:txBody>
                  <a:tcPr marL="70783" marR="101119" marT="20224" marB="15167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3400" b="1">
                <a:solidFill>
                  <a:srgbClr val="66FCF1"/>
                </a:solidFill>
              </a:defRPr>
            </a:pPr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Multi-Agent System Coordinated by Strands Swarm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196197"/>
              </p:ext>
            </p:extLst>
          </p:nvPr>
        </p:nvGraphicFramePr>
        <p:xfrm>
          <a:off x="324168" y="2070552"/>
          <a:ext cx="8495664" cy="4243644"/>
        </p:xfrm>
        <a:graphic>
          <a:graphicData uri="http://schemas.openxmlformats.org/drawingml/2006/table">
            <a:tbl>
              <a:tblPr firstRow="1" bandRow="1">
                <a:solidFill>
                  <a:schemeClr val="tx1">
                    <a:lumMod val="75000"/>
                    <a:lumOff val="25000"/>
                  </a:schemeClr>
                </a:solidFill>
                <a:tableStyleId>{5C22544A-7EE6-4342-B048-85BDC9FD1C3A}</a:tableStyleId>
              </a:tblPr>
              <a:tblGrid>
                <a:gridCol w="2258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4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2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7457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2000" b="0" cap="none" spc="0">
                          <a:solidFill>
                            <a:schemeClr val="bg1"/>
                          </a:solidFill>
                        </a:rPr>
                        <a:t>Agent Type</a:t>
                      </a:r>
                    </a:p>
                  </a:txBody>
                  <a:tcPr marL="166837" marR="128336" marT="128336" marB="12833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2000" b="0" cap="none" spc="0">
                          <a:solidFill>
                            <a:schemeClr val="bg1"/>
                          </a:solidFill>
                        </a:rPr>
                        <a:t>Purpose</a:t>
                      </a:r>
                    </a:p>
                  </a:txBody>
                  <a:tcPr marL="166837" marR="128336" marT="128336" marB="12833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2000" b="0" cap="none" spc="0">
                          <a:solidFill>
                            <a:schemeClr val="bg1"/>
                          </a:solidFill>
                        </a:rPr>
                        <a:t>Example Actions</a:t>
                      </a:r>
                    </a:p>
                  </a:txBody>
                  <a:tcPr marL="166837" marR="128336" marT="128336" marB="12833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690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2000" cap="none" spc="0">
                          <a:solidFill>
                            <a:schemeClr val="bg1"/>
                          </a:solidFill>
                        </a:rPr>
                        <a:t>Orchestrator</a:t>
                      </a:r>
                    </a:p>
                  </a:txBody>
                  <a:tcPr marL="166837" marR="128336" marT="128336" marB="128336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2000" cap="none" spc="0">
                          <a:solidFill>
                            <a:schemeClr val="bg1"/>
                          </a:solidFill>
                        </a:rPr>
                        <a:t>Interprets intent and routes tasks</a:t>
                      </a:r>
                    </a:p>
                  </a:txBody>
                  <a:tcPr marL="166837" marR="128336" marT="128336" marB="128336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2000" cap="none" spc="0">
                          <a:solidFill>
                            <a:schemeClr val="bg1"/>
                          </a:solidFill>
                        </a:rPr>
                        <a:t>Identify KPI agents</a:t>
                      </a:r>
                    </a:p>
                  </a:txBody>
                  <a:tcPr marL="166837" marR="128336" marT="128336" marB="128336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690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2000" cap="none" spc="0">
                          <a:solidFill>
                            <a:schemeClr val="bg1"/>
                          </a:solidFill>
                        </a:rPr>
                        <a:t>Metric Agents</a:t>
                      </a:r>
                    </a:p>
                  </a:txBody>
                  <a:tcPr marL="166837" marR="128336" marT="128336" marB="128336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2000" cap="none" spc="0">
                          <a:solidFill>
                            <a:schemeClr val="bg1"/>
                          </a:solidFill>
                        </a:rPr>
                        <a:t>Domain-specific reasoning</a:t>
                      </a:r>
                    </a:p>
                  </a:txBody>
                  <a:tcPr marL="166837" marR="128336" marT="128336" marB="128336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2000" cap="none" spc="0">
                          <a:solidFill>
                            <a:schemeClr val="bg1"/>
                          </a:solidFill>
                        </a:rPr>
                        <a:t>Sales, Revenue, Ops, Risk, Finance</a:t>
                      </a:r>
                    </a:p>
                  </a:txBody>
                  <a:tcPr marL="166837" marR="128336" marT="128336" marB="128336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457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2000" cap="none" spc="0">
                          <a:solidFill>
                            <a:schemeClr val="bg1"/>
                          </a:solidFill>
                        </a:rPr>
                        <a:t>Memory Service</a:t>
                      </a:r>
                    </a:p>
                  </a:txBody>
                  <a:tcPr marL="166837" marR="128336" marT="128336" marB="128336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2000" cap="none" spc="0">
                          <a:solidFill>
                            <a:schemeClr val="bg1"/>
                          </a:solidFill>
                        </a:rPr>
                        <a:t>Context persistence</a:t>
                      </a:r>
                    </a:p>
                  </a:txBody>
                  <a:tcPr marL="166837" marR="128336" marT="128336" marB="128336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2000" cap="none" spc="0">
                          <a:solidFill>
                            <a:schemeClr val="bg1"/>
                          </a:solidFill>
                        </a:rPr>
                        <a:t>Recall user’s last queries</a:t>
                      </a:r>
                    </a:p>
                  </a:txBody>
                  <a:tcPr marL="166837" marR="128336" marT="128336" marB="128336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457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2000" cap="none" spc="0">
                          <a:solidFill>
                            <a:schemeClr val="bg1"/>
                          </a:solidFill>
                        </a:rPr>
                        <a:t>Gateway Tools</a:t>
                      </a:r>
                    </a:p>
                  </a:txBody>
                  <a:tcPr marL="166837" marR="128336" marT="128336" marB="128336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2000" cap="none" spc="0">
                          <a:solidFill>
                            <a:schemeClr val="bg1"/>
                          </a:solidFill>
                        </a:rPr>
                        <a:t>Secure API access</a:t>
                      </a:r>
                    </a:p>
                  </a:txBody>
                  <a:tcPr marL="166837" marR="128336" marT="128336" marB="128336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2000" cap="none" spc="0">
                          <a:solidFill>
                            <a:schemeClr val="bg1"/>
                          </a:solidFill>
                        </a:rPr>
                        <a:t>Fetch data via MCP</a:t>
                      </a:r>
                    </a:p>
                  </a:txBody>
                  <a:tcPr marL="166837" marR="128336" marT="128336" marB="128336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457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2000" cap="none" spc="0">
                          <a:solidFill>
                            <a:schemeClr val="bg1"/>
                          </a:solidFill>
                        </a:rPr>
                        <a:t>Snowflake MCP</a:t>
                      </a:r>
                    </a:p>
                  </a:txBody>
                  <a:tcPr marL="166837" marR="128336" marT="128336" marB="128336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2000" cap="none" spc="0">
                          <a:solidFill>
                            <a:schemeClr val="bg1"/>
                          </a:solidFill>
                        </a:rPr>
                        <a:t>Shared SQL execution</a:t>
                      </a:r>
                    </a:p>
                  </a:txBody>
                  <a:tcPr marL="166837" marR="128336" marT="128336" marB="128336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2000" cap="none" spc="0">
                          <a:solidFill>
                            <a:schemeClr val="bg1"/>
                          </a:solidFill>
                        </a:rPr>
                        <a:t>SELECT * FROM metrics</a:t>
                      </a:r>
                    </a:p>
                  </a:txBody>
                  <a:tcPr marL="166837" marR="128336" marT="128336" marB="128336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160" y="417576"/>
            <a:ext cx="818223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defRPr sz="3400" b="1">
                <a:solidFill>
                  <a:srgbClr val="66FCF1"/>
                </a:solidFill>
              </a:defRPr>
            </a:pP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End-to-End Query Flow (User → Insights)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733454"/>
            <a:ext cx="3429000" cy="18288"/>
          </a:xfrm>
          <a:custGeom>
            <a:avLst/>
            <a:gdLst>
              <a:gd name="connsiteX0" fmla="*/ 0 w 3429000"/>
              <a:gd name="connsiteY0" fmla="*/ 0 h 18288"/>
              <a:gd name="connsiteX1" fmla="*/ 685800 w 3429000"/>
              <a:gd name="connsiteY1" fmla="*/ 0 h 18288"/>
              <a:gd name="connsiteX2" fmla="*/ 1371600 w 3429000"/>
              <a:gd name="connsiteY2" fmla="*/ 0 h 18288"/>
              <a:gd name="connsiteX3" fmla="*/ 2057400 w 3429000"/>
              <a:gd name="connsiteY3" fmla="*/ 0 h 18288"/>
              <a:gd name="connsiteX4" fmla="*/ 2674620 w 3429000"/>
              <a:gd name="connsiteY4" fmla="*/ 0 h 18288"/>
              <a:gd name="connsiteX5" fmla="*/ 3429000 w 3429000"/>
              <a:gd name="connsiteY5" fmla="*/ 0 h 18288"/>
              <a:gd name="connsiteX6" fmla="*/ 3429000 w 3429000"/>
              <a:gd name="connsiteY6" fmla="*/ 18288 h 18288"/>
              <a:gd name="connsiteX7" fmla="*/ 2811780 w 3429000"/>
              <a:gd name="connsiteY7" fmla="*/ 18288 h 18288"/>
              <a:gd name="connsiteX8" fmla="*/ 2228850 w 3429000"/>
              <a:gd name="connsiteY8" fmla="*/ 18288 h 18288"/>
              <a:gd name="connsiteX9" fmla="*/ 1543050 w 3429000"/>
              <a:gd name="connsiteY9" fmla="*/ 18288 h 18288"/>
              <a:gd name="connsiteX10" fmla="*/ 925830 w 3429000"/>
              <a:gd name="connsiteY10" fmla="*/ 18288 h 18288"/>
              <a:gd name="connsiteX11" fmla="*/ 0 w 3429000"/>
              <a:gd name="connsiteY11" fmla="*/ 18288 h 18288"/>
              <a:gd name="connsiteX12" fmla="*/ 0 w 342900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43148"/>
              </p:ext>
            </p:extLst>
          </p:nvPr>
        </p:nvGraphicFramePr>
        <p:xfrm>
          <a:off x="813371" y="2633472"/>
          <a:ext cx="7514973" cy="3586363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1276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90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90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6033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100" b="0" cap="none" spc="0">
                          <a:solidFill>
                            <a:schemeClr val="bg1"/>
                          </a:solidFill>
                        </a:rPr>
                        <a:t>Step</a:t>
                      </a:r>
                    </a:p>
                  </a:txBody>
                  <a:tcPr marL="89544" marR="68880" marT="68880" marB="6888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100" b="0" cap="none" spc="0">
                          <a:solidFill>
                            <a:schemeClr val="bg1"/>
                          </a:solidFill>
                        </a:rPr>
                        <a:t>Action</a:t>
                      </a:r>
                    </a:p>
                  </a:txBody>
                  <a:tcPr marL="89544" marR="68880" marT="68880" marB="6888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100" b="0" cap="none" spc="0">
                          <a:solidFill>
                            <a:schemeClr val="bg1"/>
                          </a:solidFill>
                        </a:rPr>
                        <a:t>System Component</a:t>
                      </a:r>
                    </a:p>
                  </a:txBody>
                  <a:tcPr marL="89544" marR="68880" marT="68880" marB="6888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033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9544" marR="68880" marT="68880" marB="68880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User types question</a:t>
                      </a:r>
                    </a:p>
                  </a:txBody>
                  <a:tcPr marL="89544" marR="68880" marT="68880" marB="6888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Power BI Chat UI</a:t>
                      </a:r>
                    </a:p>
                  </a:txBody>
                  <a:tcPr marL="89544" marR="68880" marT="68880" marB="6888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033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89544" marR="68880" marT="68880" marB="6888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Message routed securely</a:t>
                      </a:r>
                    </a:p>
                  </a:txBody>
                  <a:tcPr marL="89544" marR="68880" marT="68880" marB="6888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FastAPI Gateway</a:t>
                      </a:r>
                    </a:p>
                  </a:txBody>
                  <a:tcPr marL="89544" marR="68880" marT="68880" marB="6888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033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89544" marR="68880" marT="68880" marB="68880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Session validated</a:t>
                      </a:r>
                    </a:p>
                  </a:txBody>
                  <a:tcPr marL="89544" marR="68880" marT="68880" marB="6888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RDS + Auth Middleware</a:t>
                      </a:r>
                    </a:p>
                  </a:txBody>
                  <a:tcPr marL="89544" marR="68880" marT="68880" marB="6888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033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89544" marR="68880" marT="68880" marB="6888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Request to AgentCore</a:t>
                      </a:r>
                    </a:p>
                  </a:txBody>
                  <a:tcPr marL="89544" marR="68880" marT="68880" marB="6888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AWS Bedrock Runtime</a:t>
                      </a:r>
                    </a:p>
                  </a:txBody>
                  <a:tcPr marL="89544" marR="68880" marT="68880" marB="6888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033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89544" marR="68880" marT="68880" marB="68880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Agents activated</a:t>
                      </a:r>
                    </a:p>
                  </a:txBody>
                  <a:tcPr marL="89544" marR="68880" marT="68880" marB="6888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Strands Swarm</a:t>
                      </a:r>
                    </a:p>
                  </a:txBody>
                  <a:tcPr marL="89544" marR="68880" marT="68880" marB="6888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033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89544" marR="68880" marT="68880" marB="6888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Data fetched</a:t>
                      </a:r>
                    </a:p>
                  </a:txBody>
                  <a:tcPr marL="89544" marR="68880" marT="68880" marB="6888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Snowflake MCP (Lambda)</a:t>
                      </a:r>
                    </a:p>
                  </a:txBody>
                  <a:tcPr marL="89544" marR="68880" marT="68880" marB="6888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6033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89544" marR="68880" marT="68880" marB="68880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SQL executed</a:t>
                      </a:r>
                    </a:p>
                  </a:txBody>
                  <a:tcPr marL="89544" marR="68880" marT="68880" marB="6888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Snowflake Warehouse</a:t>
                      </a:r>
                    </a:p>
                  </a:txBody>
                  <a:tcPr marL="89544" marR="68880" marT="68880" marB="6888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6033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89544" marR="68880" marT="68880" marB="6888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Response synthesized</a:t>
                      </a:r>
                    </a:p>
                  </a:txBody>
                  <a:tcPr marL="89544" marR="68880" marT="68880" marB="6888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LLM (Claude 3)</a:t>
                      </a:r>
                    </a:p>
                  </a:txBody>
                  <a:tcPr marL="89544" marR="68880" marT="68880" marB="6888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6033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89544" marR="68880" marT="68880" marB="68880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Results formatted</a:t>
                      </a:r>
                    </a:p>
                  </a:txBody>
                  <a:tcPr marL="89544" marR="68880" marT="68880" marB="6888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Orchestrator</a:t>
                      </a:r>
                    </a:p>
                  </a:txBody>
                  <a:tcPr marL="89544" marR="68880" marT="68880" marB="6888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6033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89544" marR="68880" marT="68880" marB="6888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Answer returned</a:t>
                      </a:r>
                    </a:p>
                  </a:txBody>
                  <a:tcPr marL="89544" marR="68880" marT="68880" marB="6888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100" cap="none" spc="0">
                          <a:solidFill>
                            <a:schemeClr val="tx1"/>
                          </a:solidFill>
                        </a:rPr>
                        <a:t>Power BI UI</a:t>
                      </a:r>
                    </a:p>
                  </a:txBody>
                  <a:tcPr marL="89544" marR="68880" marT="68880" marB="6888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pPr>
              <a:defRPr sz="3400" b="1">
                <a:solidFill>
                  <a:srgbClr val="66FCF1"/>
                </a:solidFill>
              </a:defRPr>
            </a:pPr>
            <a:r>
              <a:rPr lang="en-IN" sz="2800">
                <a:solidFill>
                  <a:schemeClr val="bg1"/>
                </a:solidFill>
              </a:rPr>
              <a:t>Implementation Plan – 8–10 Weeks, 3 Developer Team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726"/>
              </p:ext>
            </p:extLst>
          </p:nvPr>
        </p:nvGraphicFramePr>
        <p:xfrm>
          <a:off x="482600" y="2023207"/>
          <a:ext cx="8178799" cy="3698243"/>
        </p:xfrm>
        <a:graphic>
          <a:graphicData uri="http://schemas.openxmlformats.org/drawingml/2006/table">
            <a:tbl>
              <a:tblPr firstRow="1" bandRow="1">
                <a:solidFill>
                  <a:schemeClr val="tx1">
                    <a:lumMod val="75000"/>
                    <a:lumOff val="25000"/>
                  </a:schemeClr>
                </a:solidFill>
                <a:tableStyleId>{5C22544A-7EE6-4342-B048-85BDC9FD1C3A}</a:tableStyleId>
              </a:tblPr>
              <a:tblGrid>
                <a:gridCol w="2220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9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76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09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0506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700" b="1" cap="none" spc="0">
                          <a:solidFill>
                            <a:schemeClr val="bg1"/>
                          </a:solidFill>
                        </a:rPr>
                        <a:t>Phase</a:t>
                      </a:r>
                    </a:p>
                  </a:txBody>
                  <a:tcPr marL="69095" marR="98707" marT="19741" marB="148061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700" b="1" cap="none" spc="0">
                          <a:solidFill>
                            <a:schemeClr val="bg1"/>
                          </a:solidFill>
                        </a:rPr>
                        <a:t>Duration</a:t>
                      </a:r>
                    </a:p>
                  </a:txBody>
                  <a:tcPr marL="69095" marR="98707" marT="19741" marB="148061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700" b="1" cap="none" spc="0">
                          <a:solidFill>
                            <a:schemeClr val="bg1"/>
                          </a:solidFill>
                        </a:rPr>
                        <a:t>Owner</a:t>
                      </a:r>
                    </a:p>
                  </a:txBody>
                  <a:tcPr marL="69095" marR="98707" marT="19741" marB="148061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700" b="1" cap="none" spc="0">
                          <a:solidFill>
                            <a:schemeClr val="bg1"/>
                          </a:solidFill>
                        </a:rPr>
                        <a:t>Key Deliverables</a:t>
                      </a:r>
                    </a:p>
                  </a:txBody>
                  <a:tcPr marL="69095" marR="98707" marT="19741" marB="148061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116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bg1"/>
                          </a:solidFill>
                        </a:rPr>
                        <a:t>Infra &amp; Auth Setup</a:t>
                      </a:r>
                    </a:p>
                  </a:txBody>
                  <a:tcPr marL="69095" marR="98707" marT="19741" marB="148061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bg1"/>
                          </a:solidFill>
                        </a:rPr>
                        <a:t>1 wk</a:t>
                      </a:r>
                    </a:p>
                  </a:txBody>
                  <a:tcPr marL="69095" marR="98707" marT="19741" marB="148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bg1"/>
                          </a:solidFill>
                        </a:rPr>
                        <a:t>Backend Dev</a:t>
                      </a:r>
                    </a:p>
                  </a:txBody>
                  <a:tcPr marL="69095" marR="98707" marT="19741" marB="148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bg1"/>
                          </a:solidFill>
                        </a:rPr>
                        <a:t>VPC, API Gateway, Cognito, RDS</a:t>
                      </a:r>
                    </a:p>
                  </a:txBody>
                  <a:tcPr marL="69095" marR="98707" marT="19741" marB="148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2116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bg1"/>
                          </a:solidFill>
                        </a:rPr>
                        <a:t>Gateway Dev</a:t>
                      </a:r>
                    </a:p>
                  </a:txBody>
                  <a:tcPr marL="69095" marR="98707" marT="19741" marB="148061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bg1"/>
                          </a:solidFill>
                        </a:rPr>
                        <a:t>1.5 wk</a:t>
                      </a:r>
                    </a:p>
                  </a:txBody>
                  <a:tcPr marL="69095" marR="98707" marT="19741" marB="148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bg1"/>
                          </a:solidFill>
                        </a:rPr>
                        <a:t>Backend Dev</a:t>
                      </a:r>
                    </a:p>
                  </a:txBody>
                  <a:tcPr marL="69095" marR="98707" marT="19741" marB="148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bg1"/>
                          </a:solidFill>
                        </a:rPr>
                        <a:t>FastAPI endpoints, session mgmt</a:t>
                      </a:r>
                    </a:p>
                  </a:txBody>
                  <a:tcPr marL="69095" marR="98707" marT="19741" marB="148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701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bg1"/>
                          </a:solidFill>
                        </a:rPr>
                        <a:t>Swarm Build</a:t>
                      </a:r>
                    </a:p>
                  </a:txBody>
                  <a:tcPr marL="69095" marR="98707" marT="19741" marB="148061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bg1"/>
                          </a:solidFill>
                        </a:rPr>
                        <a:t>2 wk</a:t>
                      </a:r>
                    </a:p>
                  </a:txBody>
                  <a:tcPr marL="69095" marR="98707" marT="19741" marB="148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bg1"/>
                          </a:solidFill>
                        </a:rPr>
                        <a:t>AI Engineer</a:t>
                      </a:r>
                    </a:p>
                  </a:txBody>
                  <a:tcPr marL="69095" marR="98707" marT="19741" marB="148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bg1"/>
                          </a:solidFill>
                        </a:rPr>
                        <a:t>Orchestrator, metric agents</a:t>
                      </a:r>
                    </a:p>
                  </a:txBody>
                  <a:tcPr marL="69095" marR="98707" marT="19741" marB="148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701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bg1"/>
                          </a:solidFill>
                        </a:rPr>
                        <a:t>AgentCore Deploy</a:t>
                      </a:r>
                    </a:p>
                  </a:txBody>
                  <a:tcPr marL="69095" marR="98707" marT="19741" marB="148061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bg1"/>
                          </a:solidFill>
                        </a:rPr>
                        <a:t>1.5 wk</a:t>
                      </a:r>
                    </a:p>
                  </a:txBody>
                  <a:tcPr marL="69095" marR="98707" marT="19741" marB="148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bg1"/>
                          </a:solidFill>
                        </a:rPr>
                        <a:t>AI Engineer</a:t>
                      </a:r>
                    </a:p>
                  </a:txBody>
                  <a:tcPr marL="69095" marR="98707" marT="19741" marB="148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bg1"/>
                          </a:solidFill>
                        </a:rPr>
                        <a:t>Runtime integration</a:t>
                      </a:r>
                    </a:p>
                  </a:txBody>
                  <a:tcPr marL="69095" marR="98707" marT="19741" marB="148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701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bg1"/>
                          </a:solidFill>
                        </a:rPr>
                        <a:t>Snowflake MCP Tool</a:t>
                      </a:r>
                    </a:p>
                  </a:txBody>
                  <a:tcPr marL="69095" marR="98707" marT="19741" marB="148061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bg1"/>
                          </a:solidFill>
                        </a:rPr>
                        <a:t>1 wk</a:t>
                      </a:r>
                    </a:p>
                  </a:txBody>
                  <a:tcPr marL="69095" marR="98707" marT="19741" marB="148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bg1"/>
                          </a:solidFill>
                        </a:rPr>
                        <a:t>Data Engineer</a:t>
                      </a:r>
                    </a:p>
                  </a:txBody>
                  <a:tcPr marL="69095" marR="98707" marT="19741" marB="148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bg1"/>
                          </a:solidFill>
                        </a:rPr>
                        <a:t>Lambda + SQL tool</a:t>
                      </a:r>
                    </a:p>
                  </a:txBody>
                  <a:tcPr marL="69095" marR="98707" marT="19741" marB="148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701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bg1"/>
                          </a:solidFill>
                        </a:rPr>
                        <a:t>UI + QA</a:t>
                      </a:r>
                    </a:p>
                  </a:txBody>
                  <a:tcPr marL="69095" marR="98707" marT="19741" marB="148061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bg1"/>
                          </a:solidFill>
                        </a:rPr>
                        <a:t>1 wk</a:t>
                      </a:r>
                    </a:p>
                  </a:txBody>
                  <a:tcPr marL="69095" marR="98707" marT="19741" marB="148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bg1"/>
                          </a:solidFill>
                        </a:rPr>
                        <a:t>Frontend + All</a:t>
                      </a:r>
                    </a:p>
                  </a:txBody>
                  <a:tcPr marL="69095" marR="98707" marT="19741" marB="148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bg1"/>
                          </a:solidFill>
                        </a:rPr>
                        <a:t>Power BI chat + QA</a:t>
                      </a:r>
                    </a:p>
                  </a:txBody>
                  <a:tcPr marL="69095" marR="98707" marT="19741" marB="148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4701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bg1"/>
                          </a:solidFill>
                        </a:rPr>
                        <a:t>Testing &amp; Observability</a:t>
                      </a:r>
                    </a:p>
                  </a:txBody>
                  <a:tcPr marL="69095" marR="98707" marT="19741" marB="148061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bg1"/>
                          </a:solidFill>
                        </a:rPr>
                        <a:t>1 wk</a:t>
                      </a:r>
                    </a:p>
                  </a:txBody>
                  <a:tcPr marL="69095" marR="98707" marT="19741" marB="148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bg1"/>
                          </a:solidFill>
                        </a:rPr>
                        <a:t>All</a:t>
                      </a:r>
                    </a:p>
                  </a:txBody>
                  <a:tcPr marL="69095" marR="98707" marT="19741" marB="148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300" cap="none" spc="0">
                          <a:solidFill>
                            <a:schemeClr val="bg1"/>
                          </a:solidFill>
                        </a:rPr>
                        <a:t>CloudWatch + tuning</a:t>
                      </a:r>
                    </a:p>
                  </a:txBody>
                  <a:tcPr marL="69095" marR="98707" marT="19741" marB="148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160" y="417576"/>
            <a:ext cx="818223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defRPr sz="3400" b="1">
                <a:solidFill>
                  <a:srgbClr val="66FCF1"/>
                </a:solidFill>
              </a:defRPr>
            </a:pP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Financials &amp; Operational Breakdown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733454"/>
            <a:ext cx="3429000" cy="18288"/>
          </a:xfrm>
          <a:custGeom>
            <a:avLst/>
            <a:gdLst>
              <a:gd name="connsiteX0" fmla="*/ 0 w 3429000"/>
              <a:gd name="connsiteY0" fmla="*/ 0 h 18288"/>
              <a:gd name="connsiteX1" fmla="*/ 685800 w 3429000"/>
              <a:gd name="connsiteY1" fmla="*/ 0 h 18288"/>
              <a:gd name="connsiteX2" fmla="*/ 1371600 w 3429000"/>
              <a:gd name="connsiteY2" fmla="*/ 0 h 18288"/>
              <a:gd name="connsiteX3" fmla="*/ 2057400 w 3429000"/>
              <a:gd name="connsiteY3" fmla="*/ 0 h 18288"/>
              <a:gd name="connsiteX4" fmla="*/ 2674620 w 3429000"/>
              <a:gd name="connsiteY4" fmla="*/ 0 h 18288"/>
              <a:gd name="connsiteX5" fmla="*/ 3429000 w 3429000"/>
              <a:gd name="connsiteY5" fmla="*/ 0 h 18288"/>
              <a:gd name="connsiteX6" fmla="*/ 3429000 w 3429000"/>
              <a:gd name="connsiteY6" fmla="*/ 18288 h 18288"/>
              <a:gd name="connsiteX7" fmla="*/ 2811780 w 3429000"/>
              <a:gd name="connsiteY7" fmla="*/ 18288 h 18288"/>
              <a:gd name="connsiteX8" fmla="*/ 2228850 w 3429000"/>
              <a:gd name="connsiteY8" fmla="*/ 18288 h 18288"/>
              <a:gd name="connsiteX9" fmla="*/ 1543050 w 3429000"/>
              <a:gd name="connsiteY9" fmla="*/ 18288 h 18288"/>
              <a:gd name="connsiteX10" fmla="*/ 925830 w 3429000"/>
              <a:gd name="connsiteY10" fmla="*/ 18288 h 18288"/>
              <a:gd name="connsiteX11" fmla="*/ 0 w 3429000"/>
              <a:gd name="connsiteY11" fmla="*/ 18288 h 18288"/>
              <a:gd name="connsiteX12" fmla="*/ 0 w 342900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207487"/>
              </p:ext>
            </p:extLst>
          </p:nvPr>
        </p:nvGraphicFramePr>
        <p:xfrm>
          <a:off x="240030" y="2804073"/>
          <a:ext cx="8661655" cy="3245160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133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1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4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31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783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Category</a:t>
                      </a:r>
                    </a:p>
                  </a:txBody>
                  <a:tcPr marL="149134" marR="89480" marT="89480" marB="8948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Service</a:t>
                      </a:r>
                    </a:p>
                  </a:txBody>
                  <a:tcPr marL="149134" marR="89480" marT="89480" marB="8948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Description</a:t>
                      </a:r>
                    </a:p>
                  </a:txBody>
                  <a:tcPr marL="149134" marR="89480" marT="89480" marB="8948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Monthly Cost (USD)</a:t>
                      </a:r>
                    </a:p>
                  </a:txBody>
                  <a:tcPr marL="149134" marR="89480" marT="89480" marB="8948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153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AI Inference</a:t>
                      </a:r>
                    </a:p>
                  </a:txBody>
                  <a:tcPr marL="149134" marR="77550" marT="77550" marB="775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Bedrock</a:t>
                      </a:r>
                    </a:p>
                  </a:txBody>
                  <a:tcPr marL="149134" marR="77550" marT="77550" marB="775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9M tokens/month</a:t>
                      </a:r>
                    </a:p>
                  </a:txBody>
                  <a:tcPr marL="149134" marR="77550" marT="77550" marB="775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$2,700</a:t>
                      </a:r>
                    </a:p>
                  </a:txBody>
                  <a:tcPr marL="149134" marR="77550" marT="77550" marB="775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153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Agent Runtime</a:t>
                      </a:r>
                    </a:p>
                  </a:txBody>
                  <a:tcPr marL="149134" marR="77550" marT="77550" marB="775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AgentCore</a:t>
                      </a:r>
                    </a:p>
                  </a:txBody>
                  <a:tcPr marL="149134" marR="77550" marT="77550" marB="775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120K invocations</a:t>
                      </a:r>
                    </a:p>
                  </a:txBody>
                  <a:tcPr marL="149134" marR="77550" marT="77550" marB="775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$120</a:t>
                      </a:r>
                    </a:p>
                  </a:txBody>
                  <a:tcPr marL="149134" marR="77550" marT="77550" marB="775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153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Memory &amp; Gateway</a:t>
                      </a:r>
                    </a:p>
                  </a:txBody>
                  <a:tcPr marL="149134" marR="77550" marT="77550" marB="775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AgentCore APIs</a:t>
                      </a:r>
                    </a:p>
                  </a:txBody>
                  <a:tcPr marL="149134" marR="77550" marT="77550" marB="775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Context &amp; tools</a:t>
                      </a:r>
                    </a:p>
                  </a:txBody>
                  <a:tcPr marL="149134" marR="77550" marT="77550" marB="775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$4</a:t>
                      </a:r>
                    </a:p>
                  </a:txBody>
                  <a:tcPr marL="149134" marR="77550" marT="77550" marB="775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153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Data Layer</a:t>
                      </a:r>
                    </a:p>
                  </a:txBody>
                  <a:tcPr marL="149134" marR="77550" marT="77550" marB="775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Snowflake + RDS</a:t>
                      </a:r>
                    </a:p>
                  </a:txBody>
                  <a:tcPr marL="149134" marR="77550" marT="77550" marB="775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Warehouse + metadata</a:t>
                      </a:r>
                    </a:p>
                  </a:txBody>
                  <a:tcPr marL="149134" marR="77550" marT="77550" marB="775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$68</a:t>
                      </a:r>
                    </a:p>
                  </a:txBody>
                  <a:tcPr marL="149134" marR="77550" marT="77550" marB="775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153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Backend</a:t>
                      </a:r>
                    </a:p>
                  </a:txBody>
                  <a:tcPr marL="149134" marR="77550" marT="77550" marB="775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API Gateway + Lambda</a:t>
                      </a:r>
                    </a:p>
                  </a:txBody>
                  <a:tcPr marL="149134" marR="77550" marT="77550" marB="775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Endpoints</a:t>
                      </a:r>
                    </a:p>
                  </a:txBody>
                  <a:tcPr marL="149134" marR="77550" marT="77550" marB="775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$3</a:t>
                      </a:r>
                    </a:p>
                  </a:txBody>
                  <a:tcPr marL="149134" marR="77550" marT="77550" marB="775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8153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Monitoring</a:t>
                      </a:r>
                    </a:p>
                  </a:txBody>
                  <a:tcPr marL="149134" marR="77550" marT="77550" marB="775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CloudWatch + S3</a:t>
                      </a:r>
                    </a:p>
                  </a:txBody>
                  <a:tcPr marL="149134" marR="77550" marT="77550" marB="775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Logs &amp; backups</a:t>
                      </a:r>
                    </a:p>
                  </a:txBody>
                  <a:tcPr marL="149134" marR="77550" marT="77550" marB="775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$25</a:t>
                      </a:r>
                    </a:p>
                  </a:txBody>
                  <a:tcPr marL="149134" marR="77550" marT="77550" marB="775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8153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Overhead</a:t>
                      </a:r>
                    </a:p>
                  </a:txBody>
                  <a:tcPr marL="149134" marR="77550" marT="77550" marB="775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IAM + Support</a:t>
                      </a:r>
                    </a:p>
                  </a:txBody>
                  <a:tcPr marL="149134" marR="77550" marT="77550" marB="775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Ops buffer</a:t>
                      </a:r>
                    </a:p>
                  </a:txBody>
                  <a:tcPr marL="149134" marR="77550" marT="77550" marB="775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$40</a:t>
                      </a:r>
                    </a:p>
                  </a:txBody>
                  <a:tcPr marL="149134" marR="77550" marT="77550" marB="775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8153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Total</a:t>
                      </a:r>
                    </a:p>
                  </a:txBody>
                  <a:tcPr marL="149134" marR="77550" marT="77550" marB="775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-</a:t>
                      </a:r>
                    </a:p>
                  </a:txBody>
                  <a:tcPr marL="149134" marR="77550" marT="77550" marB="775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Base monthly cost</a:t>
                      </a:r>
                    </a:p>
                  </a:txBody>
                  <a:tcPr marL="149134" marR="77550" marT="77550" marB="775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$2,980</a:t>
                      </a:r>
                    </a:p>
                  </a:txBody>
                  <a:tcPr marL="149134" marR="77550" marT="77550" marB="775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8153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+25% Buffer</a:t>
                      </a:r>
                    </a:p>
                  </a:txBody>
                  <a:tcPr marL="149134" marR="77550" marT="77550" marB="775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-</a:t>
                      </a:r>
                    </a:p>
                  </a:txBody>
                  <a:tcPr marL="149134" marR="77550" marT="77550" marB="775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Token / usage variance</a:t>
                      </a:r>
                    </a:p>
                  </a:txBody>
                  <a:tcPr marL="149134" marR="77550" marT="77550" marB="775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$3,700</a:t>
                      </a:r>
                    </a:p>
                  </a:txBody>
                  <a:tcPr marL="149134" marR="77550" marT="77550" marB="775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66FCF1"/>
                </a:solidFill>
              </a:defRPr>
            </a:pPr>
            <a:r>
              <a:t>Investment Ask &amp; Strategic Impact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949686"/>
              </p:ext>
            </p:extLst>
          </p:nvPr>
        </p:nvGraphicFramePr>
        <p:xfrm>
          <a:off x="274320" y="1371600"/>
          <a:ext cx="4114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dirty="0"/>
                        <a:t>Impact Area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dirty="0"/>
                        <a:t>Metric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t>Daily Users (Pilot)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t>20 users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dirty="0"/>
                        <a:t>Scalable Capacity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t>500+ users, no infra change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t>Insight Speed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t>90% faster vs manual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t>TCO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t>&lt;$4K/month vs $25K legacy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dirty="0"/>
                        <a:t>Security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dirty="0"/>
                        <a:t>SOC2-ready, enterprise IAM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93457"/>
              </p:ext>
            </p:extLst>
          </p:nvPr>
        </p:nvGraphicFramePr>
        <p:xfrm>
          <a:off x="4572000" y="1371600"/>
          <a:ext cx="4114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t>Use Case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t>% Allocation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t>Funding (USD)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t>Product Development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t>$60,000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t>Pilot Deployments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t>$45,000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t>Security &amp; Compliance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t>$22,500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dirty="0"/>
                        <a:t>Team Expansion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t>$22,500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t>Total Seed Ask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0F0F0"/>
                          </a:solidFill>
                        </a:defRPr>
                      </a:pPr>
                      <a:r>
                        <a:rPr dirty="0"/>
                        <a:t>$150,000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95868-458E-EC62-79F2-E643A9D8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359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568</Words>
  <Application>Microsoft Macintosh PowerPoint</Application>
  <PresentationFormat>On-screen Show (4:3)</PresentationFormat>
  <Paragraphs>198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Transforming KPI Intelligence with Autonomous Agents on AWS Bedrock</vt:lpstr>
      <vt:lpstr>Serverless AI Architecture on AWS Bedrock AgentCore</vt:lpstr>
      <vt:lpstr>Multi-Agent System Coordinated by Strands Swarm</vt:lpstr>
      <vt:lpstr>End-to-End Query Flow (User → Insights)</vt:lpstr>
      <vt:lpstr>Implementation Plan – 8–10 Weeks, 3 Developer Team</vt:lpstr>
      <vt:lpstr>Financials &amp; Operational Breakdown</vt:lpstr>
      <vt:lpstr>Investment Ask &amp; Strategic Impact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Jitendra Santosh Varma Kosuri</cp:lastModifiedBy>
  <cp:revision>2</cp:revision>
  <dcterms:created xsi:type="dcterms:W3CDTF">2013-01-27T09:14:16Z</dcterms:created>
  <dcterms:modified xsi:type="dcterms:W3CDTF">2025-11-06T04:23:03Z</dcterms:modified>
  <cp:category/>
</cp:coreProperties>
</file>